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80b1f025ee2983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780b1f025ee2983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780b1f025ee2983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780b1f025ee2983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80b1f025ee2983b_1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780b1f025ee2983b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80b1f025ee2983b_1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80b1f025ee2983b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80b1f025ee2983b_1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780b1f025ee2983b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780b1f025ee2983b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780b1f025ee2983b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780b1f025ee2983b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780b1f025ee2983b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780b1f025ee2983b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780b1f025ee2983b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780b1f025ee2983b_1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780b1f025ee2983b_1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780b1f025ee2983b_1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780b1f025ee2983b_1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780b1f025ee2983b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780b1f025ee2983b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975" y="425900"/>
            <a:ext cx="12953625" cy="9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63225" y="4276500"/>
            <a:ext cx="399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Prakruti Prasanna Bhat (PES1UG24CS330)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Pushkar S Kulkarni (PES1UG24CS350)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13175" y="1445488"/>
            <a:ext cx="7348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accent1"/>
                </a:solidFill>
              </a:rPr>
              <a:t>Physics-Informed Neural Networks for Mechanics</a:t>
            </a:r>
            <a:r>
              <a:rPr lang="en" sz="1100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3225" y="3378800"/>
            <a:ext cx="5777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A8CA3"/>
                </a:solidFill>
              </a:rPr>
              <a:t>Data-driven solutions and discoveries: a PyTorch reproduction of Zhang, Chen &amp; Yang (Stanford CS229)</a:t>
            </a:r>
            <a:endParaRPr sz="1600">
              <a:solidFill>
                <a:srgbClr val="7A8CA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12338" y="52372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Solving mechanics PDEs with a neural network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1525" y="1302325"/>
            <a:ext cx="6132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1F33"/>
                </a:solidFill>
              </a:rPr>
              <a:t>Mechanics is governed by conservation laws, which become differential equations. A PINN puts the equation itself into the training loss, so the network needs few or no labelled data.</a:t>
            </a:r>
            <a:endParaRPr sz="1600">
              <a:solidFill>
                <a:srgbClr val="0B1F33"/>
              </a:solidFill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75" y="2571750"/>
            <a:ext cx="8590325" cy="17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241650" y="3116525"/>
            <a:ext cx="896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2A33A"/>
                </a:solidFill>
              </a:rPr>
              <a:t>L(θ, γ) = wf·Lf + wb·Lb + wd·Ld 	</a:t>
            </a:r>
            <a:endParaRPr b="1" sz="2400">
              <a:solidFill>
                <a:srgbClr val="F2A33A"/>
              </a:solidFill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0" y="1447525"/>
            <a:ext cx="8839198" cy="173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0300" y="538950"/>
            <a:ext cx="784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How a PINN is trained</a:t>
            </a:r>
            <a:r>
              <a:rPr lang="en" sz="1100"/>
              <a:t> 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41650" y="3735950"/>
            <a:ext cx="9289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•Lf: mean squared PDE residual at random collocation points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•Lb: boundary and initial-condition mismatch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>
                <a:solidFill>
                  <a:schemeClr val="dk2"/>
                </a:solidFill>
              </a:rPr>
              <a:t>•Ld: mismatch with observations (inverse problem only); γ = unknown parameters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222625" y="562400"/>
            <a:ext cx="738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Three experiments, no external dataset</a:t>
            </a:r>
            <a:r>
              <a:rPr lang="en" sz="1100"/>
              <a:t> 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0400"/>
            <a:ext cx="8839199" cy="3358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52400" y="445945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E5C76"/>
                </a:solidFill>
              </a:rPr>
              <a:t>Data: points are sampled from the domain; Experiment 3 observations are noiseless values generated from the analytical solution.</a:t>
            </a:r>
            <a:endParaRPr sz="1200">
              <a:solidFill>
                <a:srgbClr val="3E5C7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175750" y="492075"/>
            <a:ext cx="987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Implementation: paper-fixed vs our choices</a:t>
            </a:r>
            <a:r>
              <a:rPr lang="en" sz="1100"/>
              <a:t> 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0075"/>
            <a:ext cx="8839199" cy="343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5600"/>
            <a:ext cx="8839198" cy="4288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3900"/>
            <a:ext cx="8839202" cy="4289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4775"/>
            <a:ext cx="8839198" cy="458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7325"/>
            <a:ext cx="8839198" cy="4263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3525"/>
            <a:ext cx="8839200" cy="447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6200"/>
            <a:ext cx="8839200" cy="434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70325" y="550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Conclusions</a:t>
            </a:r>
            <a:r>
              <a:rPr lang="en" sz="11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269475" y="1663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A33A"/>
                </a:solidFill>
              </a:rPr>
              <a:t>What worked</a:t>
            </a:r>
            <a:endParaRPr b="1" sz="1800">
              <a:solidFill>
                <a:srgbClr val="F2A33A"/>
              </a:solidFill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5752750" y="1663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A33A"/>
                </a:solidFill>
              </a:rPr>
              <a:t>Limits and next steps</a:t>
            </a:r>
            <a:endParaRPr b="1" sz="1800">
              <a:solidFill>
                <a:srgbClr val="F2A33A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69475" y="2125425"/>
            <a:ext cx="4080600" cy="18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•One loss-based method solved a PDE in 1D and 2D and identified parameters from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•Inverse problem matched the paper to three decimals.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•Hard boundary condition cut Exp. 2 error about 5,000×.</a:t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4801500" y="2125425"/>
            <a:ext cx="54486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•Exp. 1 residual blows up at the origin; try adaptive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sampling there.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•Exp. 3 is sensitive to start values; test several seeds.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•Paper's own next step: coupled poromechanics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 equations.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